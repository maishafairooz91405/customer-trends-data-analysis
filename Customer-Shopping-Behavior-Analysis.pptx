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</p:embeddedFont>
    <p:embeddedFont>
      <p:font typeface="Libre Baskerville" panose="020000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966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spending patterns, customer segments, and product preferences from </a:t>
            </a: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3,900 transactions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guide strategic decisions.</a:t>
            </a:r>
            <a:endParaRPr lang="en-US" sz="11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77EE27B-6D49-4D36-64F7-2973044DA93C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3635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67519" y="1733699"/>
            <a:ext cx="42158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375097" y="2378646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431953" y="1733699"/>
            <a:ext cx="42159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5539606" y="2378646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7519" y="2954462"/>
            <a:ext cx="4215854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$59.76</a:t>
            </a:r>
            <a:endParaRPr lang="en-US" sz="3650" dirty="0"/>
          </a:p>
        </p:txBody>
      </p:sp>
      <p:sp>
        <p:nvSpPr>
          <p:cNvPr id="8" name="Text 6"/>
          <p:cNvSpPr/>
          <p:nvPr/>
        </p:nvSpPr>
        <p:spPr>
          <a:xfrm>
            <a:off x="1375097" y="3599408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Purchase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31953" y="2954462"/>
            <a:ext cx="4215929" cy="46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3.75</a:t>
            </a:r>
            <a:endParaRPr lang="en-US" sz="3650" dirty="0"/>
          </a:p>
        </p:txBody>
      </p:sp>
      <p:sp>
        <p:nvSpPr>
          <p:cNvPr id="10" name="Text 8"/>
          <p:cNvSpPr/>
          <p:nvPr/>
        </p:nvSpPr>
        <p:spPr>
          <a:xfrm>
            <a:off x="5539606" y="3599408"/>
            <a:ext cx="20006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Rating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119" y="3980334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Demographics · Purchase details · Shipping · Discounts · Subscription status</a:t>
            </a:r>
            <a:endParaRPr lang="en-US" sz="11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502360F-85AE-A4B7-F6BA-D8B76F2CC378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69019"/>
            <a:ext cx="511775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in Python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1392287"/>
            <a:ext cx="5225430" cy="296101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9285" y="1115392"/>
            <a:ext cx="199355" cy="19935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51402" y="1111300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Load &amp; Explore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451402" y="1443558"/>
            <a:ext cx="2689324" cy="210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pandas · </a:t>
            </a: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000" dirty="0">
                <a:solidFill>
                  <a:srgbClr val="454240"/>
                </a:solidFill>
                <a:highlight>
                  <a:srgbClr val="F2F0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endParaRPr lang="en-US" sz="1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9285" y="1907530"/>
            <a:ext cx="199355" cy="19935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51402" y="1903437"/>
            <a:ext cx="220087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Clean &amp; Standardize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6451402" y="2235696"/>
            <a:ext cx="223212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missing ratings · renamed to snake_case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9285" y="2900883"/>
            <a:ext cx="199355" cy="19935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51402" y="2896791"/>
            <a:ext cx="2188890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6451402" y="3229049"/>
            <a:ext cx="223212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age_group · purchase_frequency_days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69285" y="3894237"/>
            <a:ext cx="199355" cy="19935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51402" y="3890144"/>
            <a:ext cx="21184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Export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6451402" y="4222403"/>
            <a:ext cx="2232124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Loaded cleaned data into PostgreSQL</a:t>
            </a:r>
            <a:endParaRPr lang="en-US" sz="10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AC3646-635B-A3B6-73AF-36BC21DB109B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98537"/>
            <a:ext cx="650297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&amp; Age Group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13595"/>
            <a:ext cx="3902943" cy="218561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01" y="1613595"/>
            <a:ext cx="3902943" cy="218561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6119" y="4118149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drive </a:t>
            </a: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2× more revenue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than female. Young Adults lead across age groups.</a:t>
            </a:r>
            <a:endParaRPr lang="en-US" sz="11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B201C19-23AE-8335-1C3D-C9C441E72821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66824"/>
            <a:ext cx="743351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&amp; Discount Dependency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417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5 by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96119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2714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89386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2714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89386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2714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89386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2714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Boots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89386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2714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89386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3.80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2714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89386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49701" y="1464171"/>
            <a:ext cx="28670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Most Discount-Dependent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749701" y="1845097"/>
            <a:ext cx="3902943" cy="2472035"/>
          </a:xfrm>
          <a:prstGeom prst="roundRect">
            <a:avLst>
              <a:gd name="adj" fmla="val 24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6296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42968" y="1939677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Discount Rate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6296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42968" y="2350889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50.00%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6296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Sneakers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42968" y="2762101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49.66%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6296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42968" y="3173313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49.07%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6296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Sweater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42968" y="3584525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48.17%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6296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Pants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42968" y="3995738"/>
            <a:ext cx="21203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47.37%</a:t>
            </a:r>
            <a:endParaRPr lang="en-US" sz="1100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61A8D02-11BF-8ADD-EC3F-6148C075863E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17379" y="423714"/>
            <a:ext cx="5104656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 Products by Category</a:t>
            </a:r>
            <a:endParaRPr lang="en-US" sz="2700" dirty="0"/>
          </a:p>
        </p:txBody>
      </p:sp>
      <p:sp>
        <p:nvSpPr>
          <p:cNvPr id="4" name="Shape 1"/>
          <p:cNvSpPr/>
          <p:nvPr/>
        </p:nvSpPr>
        <p:spPr>
          <a:xfrm>
            <a:off x="3917379" y="1065833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61668" y="1210121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1668" y="1510531"/>
            <a:ext cx="49068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Jewelry · Sunglasses · Belt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917379" y="2013645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1668" y="2157933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Clothing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061668" y="2458343"/>
            <a:ext cx="49068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 · Pants · Shirt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17379" y="2961456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61668" y="3105745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1668" y="3406155"/>
            <a:ext cx="49068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Sandals · Shoes · Sneakers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917379" y="3909268"/>
            <a:ext cx="4738241" cy="810444"/>
          </a:xfrm>
          <a:prstGeom prst="roundRect">
            <a:avLst>
              <a:gd name="adj" fmla="val 7232"/>
            </a:avLst>
          </a:prstGeom>
          <a:solidFill>
            <a:srgbClr val="F7EDD4"/>
          </a:solidFill>
          <a:ln w="4763">
            <a:solidFill>
              <a:srgbClr val="DDD3B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61668" y="4053557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061668" y="4353967"/>
            <a:ext cx="49068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Jacket · Coat</a:t>
            </a:r>
            <a:endParaRPr lang="en-US" sz="105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9BCC84-ABE2-221C-D8B8-3AF90CE55771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602159"/>
            <a:ext cx="377800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Subscriptions &amp; Customer Segments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31" y="894457"/>
            <a:ext cx="4890939" cy="27388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26531" y="3686473"/>
            <a:ext cx="1371600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Segments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897931" y="3885754"/>
            <a:ext cx="1829395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3,116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2255341" y="4181624"/>
            <a:ext cx="11145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543002" y="3885754"/>
            <a:ext cx="1829395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900413" y="4181624"/>
            <a:ext cx="11145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5188074" y="3885754"/>
            <a:ext cx="1829395" cy="233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18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83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545485" y="4181624"/>
            <a:ext cx="111457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6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2126531" y="4332163"/>
            <a:ext cx="4890939" cy="209104"/>
          </a:xfrm>
          <a:prstGeom prst="roundRect">
            <a:avLst>
              <a:gd name="adj" fmla="val 14237"/>
            </a:avLst>
          </a:prstGeom>
          <a:solidFill>
            <a:srgbClr val="B6D6F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373" y="4420716"/>
            <a:ext cx="88553" cy="70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56768" y="4385295"/>
            <a:ext cx="5047059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buyers (&gt;5 purchases): </a:t>
            </a:r>
            <a:r>
              <a:rPr lang="en-US" sz="5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958 subscribers</a:t>
            </a:r>
            <a:r>
              <a:rPr lang="en-US" sz="5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vs. 2,518 non-subscribers</a:t>
            </a:r>
            <a:endParaRPr lang="en-US" sz="55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D317BB-A545-CDF2-BF94-D70CE98DA0F9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10071"/>
            <a:ext cx="577721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&amp; Discount Insights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07418"/>
            <a:ext cx="30764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Spend by Shipping Type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88344"/>
            <a:ext cx="3902943" cy="2185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607418"/>
            <a:ext cx="29784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High-Spend Discount Users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197063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customers used discounts yet spent </a:t>
            </a:r>
            <a:r>
              <a:rPr lang="en-US" sz="1100" b="1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above average</a:t>
            </a: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discounts don't always erode value.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49701" y="2583731"/>
            <a:ext cx="3902943" cy="829196"/>
          </a:xfrm>
          <a:prstGeom prst="roundRect">
            <a:avLst>
              <a:gd name="adj" fmla="val 7181"/>
            </a:avLst>
          </a:prstGeom>
          <a:solidFill>
            <a:srgbClr val="B6FCB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2798787"/>
            <a:ext cx="177180" cy="1417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0398" y="2760911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Opportunity: reward high-spend discount users with loyalty perks</a:t>
            </a:r>
            <a:endParaRPr lang="en-US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C0D7EE-5410-F48E-05D1-56ABBE41A633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67159"/>
            <a:ext cx="370596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BI Dashboard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34132" y="4590306"/>
            <a:ext cx="870986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Interactive filters by subscription status, gender, category, and shipping type — enabling real-time business exploration.</a:t>
            </a:r>
            <a:endParaRPr lang="en-US" sz="95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1063F8E-06A3-D24B-C4DD-DEC0A42CBAA5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CA2804-122A-FB21-B6B7-D77AC55895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50" y="750869"/>
            <a:ext cx="7112000" cy="37602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55861"/>
            <a:ext cx="555329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Business Recommendations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782366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7069" y="17823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14077" y="1943174"/>
            <a:ext cx="225772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14077" y="2249686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subscriber benefits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0601" y="1782366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1551" y="17823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3478560" y="194317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8560" y="2249686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→ move to "Loyal" segment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25083" y="1782366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06033" y="1782366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6243042" y="1943174"/>
            <a:ext cx="25839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243042" y="2249686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Balance sales boosts with margin control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005882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069" y="3005882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14077" y="3166690"/>
            <a:ext cx="22548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14077" y="347320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&amp; best-selling items in campaigns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60601" y="3005882"/>
            <a:ext cx="2622724" cy="1081757"/>
          </a:xfrm>
          <a:prstGeom prst="roundRect">
            <a:avLst>
              <a:gd name="adj" fmla="val 8453"/>
            </a:avLst>
          </a:prstGeom>
          <a:solidFill>
            <a:srgbClr val="FFFDFA"/>
          </a:solidFill>
          <a:ln w="19050">
            <a:solidFill>
              <a:srgbClr val="DDD3B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1551" y="3005882"/>
            <a:ext cx="76200" cy="1081757"/>
          </a:xfrm>
          <a:prstGeom prst="roundRect">
            <a:avLst>
              <a:gd name="adj" fmla="val 78140"/>
            </a:avLst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3478560" y="3166690"/>
            <a:ext cx="224425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478560" y="3473202"/>
            <a:ext cx="224395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920E92FF-0AB3-601C-CED7-416475A88310}"/>
              </a:ext>
            </a:extLst>
          </p:cNvPr>
          <p:cNvSpPr/>
          <p:nvPr/>
        </p:nvSpPr>
        <p:spPr>
          <a:xfrm>
            <a:off x="7943850" y="4813300"/>
            <a:ext cx="1143000" cy="2921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326</Words>
  <Application>Microsoft Office PowerPoint</Application>
  <PresentationFormat>On-screen Show (16:9)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Libre Baskerville</vt:lpstr>
      <vt:lpstr>DM Sans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MOHAMMED AFTAHI ISLAM</cp:lastModifiedBy>
  <cp:revision>3</cp:revision>
  <dcterms:created xsi:type="dcterms:W3CDTF">2026-05-20T18:15:02Z</dcterms:created>
  <dcterms:modified xsi:type="dcterms:W3CDTF">2026-05-20T18:22:59Z</dcterms:modified>
</cp:coreProperties>
</file>